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EOQ (units)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B4F7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Detergent Powder…</c:v>
                  </c:pt>
                  <c:pt idx="1">
                    <c:v>Shampoo 200ml</c:v>
                  </c:pt>
                  <c:pt idx="2">
                    <c:v>Biscuits 200g</c:v>
                  </c:pt>
                  <c:pt idx="3">
                    <c:v>Cooking Oil 1L</c:v>
                  </c:pt>
                  <c:pt idx="4">
                    <c:v>Toothpaste 150g</c:v>
                  </c:pt>
                  <c:pt idx="5">
                    <c:v>Rice 5kg</c:v>
                  </c:pt>
                  <c:pt idx="6">
                    <c:v>Tea Powder 500g</c:v>
                  </c:pt>
                  <c:pt idx="7">
                    <c:v>Floor Cleaner 1L</c:v>
                  </c:pt>
                  <c:pt idx="8">
                    <c:v>Face Wash 100ml</c:v>
                  </c:pt>
                  <c:pt idx="9">
                    <c:v>Chips 150g</c:v>
                  </c:pt>
                  <c:pt idx="10">
                    <c:v>Coconut Oil 500m…</c:v>
                  </c:pt>
                  <c:pt idx="11">
                    <c:v>Soap Bar 100g</c:v>
                  </c:pt>
                  <c:pt idx="12">
                    <c:v>Coffee 200g</c:v>
                  </c:pt>
                  <c:pt idx="13">
                    <c:v>Noodles 75g</c:v>
                  </c:pt>
                  <c:pt idx="14">
                    <c:v>Dish Wash Liquid…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520</c:v>
                </c:pt>
                <c:pt idx="1">
                  <c:v>329</c:v>
                </c:pt>
                <c:pt idx="2">
                  <c:v>388</c:v>
                </c:pt>
                <c:pt idx="3">
                  <c:v>275</c:v>
                </c:pt>
                <c:pt idx="4">
                  <c:v>533</c:v>
                </c:pt>
                <c:pt idx="5">
                  <c:v>211</c:v>
                </c:pt>
                <c:pt idx="6">
                  <c:v>345</c:v>
                </c:pt>
                <c:pt idx="7">
                  <c:v>249</c:v>
                </c:pt>
                <c:pt idx="8">
                  <c:v>438</c:v>
                </c:pt>
                <c:pt idx="9">
                  <c:v>493</c:v>
                </c:pt>
                <c:pt idx="10">
                  <c:v>353</c:v>
                </c:pt>
                <c:pt idx="11">
                  <c:v>831</c:v>
                </c:pt>
                <c:pt idx="12">
                  <c:v>223</c:v>
                </c:pt>
                <c:pt idx="13">
                  <c:v>419</c:v>
                </c:pt>
                <c:pt idx="14">
                  <c:v>306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B4F7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Order Quantity (units)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Ordering Cost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1B4F72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Detergent Powder…</c:v>
                  </c:pt>
                  <c:pt idx="1">
                    <c:v>Shampoo 200ml</c:v>
                  </c:pt>
                  <c:pt idx="2">
                    <c:v>Biscuits 200g</c:v>
                  </c:pt>
                  <c:pt idx="3">
                    <c:v>Cooking Oil 1L</c:v>
                  </c:pt>
                  <c:pt idx="4">
                    <c:v>Toothpaste 150g</c:v>
                  </c:pt>
                  <c:pt idx="5">
                    <c:v>Rice 5kg</c:v>
                  </c:pt>
                  <c:pt idx="6">
                    <c:v>Tea Powder 500g</c:v>
                  </c:pt>
                  <c:pt idx="7">
                    <c:v>Floor Cleaner 1L</c:v>
                  </c:pt>
                  <c:pt idx="8">
                    <c:v>Face Wash 100ml</c:v>
                  </c:pt>
                  <c:pt idx="9">
                    <c:v>Chips 150g</c:v>
                  </c:pt>
                  <c:pt idx="10">
                    <c:v>Coconut Oil 500m…</c:v>
                  </c:pt>
                  <c:pt idx="11">
                    <c:v>Soap Bar 100g</c:v>
                  </c:pt>
                  <c:pt idx="12">
                    <c:v>Coffee 200g</c:v>
                  </c:pt>
                  <c:pt idx="13">
                    <c:v>Noodles 75g</c:v>
                  </c:pt>
                  <c:pt idx="14">
                    <c:v>Dish Wash Liquid…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AED6F1"/>
                </a:solidFill>
              </a:rPr>
              <a:t>FMCG RETAIL CHAIN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Cost</a:t>
            </a:r>
            <a:endParaRPr lang="en-US" sz="4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D6F1"/>
                </a:solidFill>
              </a:rPr>
              <a:t>EOQ + Constrained MILP-Style Optimization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749040"/>
            <a:ext cx="1920240" cy="1097280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794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Products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3749040"/>
            <a:ext cx="1920240" cy="1097280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3794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Categories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3749040"/>
            <a:ext cx="1920240" cy="1097280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3794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₹86,056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EOQ Total Cost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3749040"/>
            <a:ext cx="1920240" cy="1097280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794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100 m²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43708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Storage Constraint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42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Project Overview &amp; Objectives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00784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82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EOQ Model — Methodology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40864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225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2860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Product-Level EOQ Results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980944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62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9260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Cost Breakdown &amp; Reorder Points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21024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027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5661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Constrained Optimization Results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261104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42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42062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Key Insights &amp;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FMCG retailers face high inventory costs from over-ordering (excess holding) or under-ordering (stockouts + emergency purchases).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743200"/>
            <a:ext cx="402336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614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Determine the optimal order quantity for each product that minimises total annual inventory cost: Ordering Cost + Holding Cost.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0233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2412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15 FMCG products across Grocery, Household, Personal Care, Snacks &amp; Beverages categories.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43200"/>
            <a:ext cx="40233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76148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1546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</a:rPr>
              <a:t>Classical EOQ (Wilson model) + SLSQP constrained optimization with storage &amp; budget limits.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960120"/>
            <a:ext cx="512064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9601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  =  √( 2 × D × S / H 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743200" cy="105156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C1"/>
                </a:solidFill>
              </a:rPr>
              <a:t>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Annual Demand (units/year)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</a:rPr>
              <a:t>e.g. 2,500 units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743200" cy="105156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C1"/>
                </a:solidFill>
              </a:rPr>
              <a:t>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Ordering Cost (₹ per order)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</a:rPr>
              <a:t>e.g. ₹450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743200" cy="105156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6C1"/>
                </a:solidFill>
              </a:rPr>
              <a:t>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Holding Cost (₹/unit/year)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2834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8C8D"/>
                </a:solidFill>
              </a:rPr>
              <a:t>e.g. ₹13.50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97280" y="3383280"/>
            <a:ext cx="694944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38328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F72"/>
                </a:solidFill>
              </a:rPr>
              <a:t>Reorder Point  =  Daily Demand × (Lead Time + Safety Stock Days)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8C8D"/>
                </a:solidFill>
              </a:rPr>
              <a:t>At EOQ: Ordering Cost = Holding Cost  ← minimum total cost point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 Results — All Products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097280"/>
                <a:gridCol w="1463040"/>
                <a:gridCol w="1280160"/>
                <a:gridCol w="10058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8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EOQ (units)</a:t>
                      </a:r>
                      <a:endParaRPr lang="en-US" sz="8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Annual Cost (₹)</a:t>
                      </a:r>
                      <a:endParaRPr lang="en-US" sz="8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Reorder Point</a:t>
                      </a:r>
                      <a:endParaRPr lang="en-US" sz="8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Orders/Year</a:t>
                      </a:r>
                      <a:endParaRPr lang="en-US" sz="8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Detergent Powder 1kg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Household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520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₹7,026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98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4.6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Shampoo 200ml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Personal Care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329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₹5,919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173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10.1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Biscuits 200g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Snacks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388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₹3,875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34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2.7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Cooking Oil 1L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Grocery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275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₹5,835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176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13.7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Toothpaste 150g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Personal Care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533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₹5,277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247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8.1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Rice 5kg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Grocery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211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₹5,695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116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7.4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Tea Powder 500g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Beverages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345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₹5,686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129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7.6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Floor Cleaner 1L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Household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249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₹4,179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61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5.6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Face Wash 100ml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Personal Care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438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₹8,321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149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6.2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Chips 150g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Snacks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₹6,662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105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6.0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Coconut Oil 500ml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Grocery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353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₹5,738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156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9.5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Soap Bar 100g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Personal Care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831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₹8,975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144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5.8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Coffee 200g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Beverages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223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₹4,819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125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9.3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Noodles 75g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Snacks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419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₹3,455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73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6.3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Dish Wash Liquid 500ml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Household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306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₹4,595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39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3.1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Order Quantity by Product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04672"/>
          <a:ext cx="85039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vs Holding Cost Breakdown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804672"/>
          <a:ext cx="8503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8C8D"/>
                </a:solidFill>
              </a:rPr>
              <a:t>At EOQ, Ordering Cost = Holding Cost → balanced minimum cost point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Constrained Optimization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92024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₹86,056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EOQ Total Cost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82296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822960"/>
            <a:ext cx="192024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₹91,616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Constrained Cost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22960"/>
            <a:ext cx="1920240" cy="2926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100 m²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Storage Used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0" y="82296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822960"/>
            <a:ext cx="192024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143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✓ Optimal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1737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Solver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Impact of Storage Constraint (100 m² limit vs 150 m² needed at EOQ):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51760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1463040"/>
                <a:gridCol w="1463040"/>
                <a:gridCol w="1463040"/>
              </a:tblGrid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EOQ Qty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Opt Qty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EOQ Cost (₹)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Opt Cost (₹)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Δ Cost (₹)</a:t>
                      </a:r>
                      <a:endParaRPr lang="en-US" sz="80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Detergent Powder 1kg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520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323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₹7,026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₹7,845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+₹819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Shampoo 200ml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329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280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₹5,919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₹5,995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+₹77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Biscuits 200g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388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231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₹3,875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₹4,408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+₹533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Cooking Oil 1L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275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181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₹5,835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₹6,349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+₹513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Toothpaste 150g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533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403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₹5,277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₹5,484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+₹207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Rice 5kg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211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167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₹5,695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₹5,853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+₹158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Tea Powder 500g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345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237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₹5,686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₹6,093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+₹407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Floor Cleaner 1L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249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189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₹4,179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₹4,337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+₹158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Face Wash 100ml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438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368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₹8,321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₹8,449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+₹128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Chips 150g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434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₹6,662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</a:rPr>
                        <a:t>₹6,717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74C3C"/>
                          </a:solidFill>
                        </a:rPr>
                        <a:t>+₹56</a:t>
                      </a:r>
                      <a:endParaRPr lang="en-US" sz="750" dirty="0"/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9784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</a:rPr>
              <a:t>EOQ Balances Costs Precisely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At the EOQ quantity, ordering cost exactly equals holding cost — any deviation increases total annual expense.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64792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</a:rPr>
              <a:t>Storage Constraints Have a Price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206654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 100 m² limit forces smaller orders, adding ~₹5,560/year in extra ordering costs vs. unconstrained EOQ.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56946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5877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</a:rPr>
              <a:t>High-Lead-Time Products Need Watch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8712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Toothpaste (ROP=247 units, 14 days lead) and Cooking Oil (ROP=176, 10 days) require large inventory buffers.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374136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3924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</a:rPr>
              <a:t>Soap Bar: Biggest Cost Driver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" y="3675888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Highest inventory cost (₹8,975/yr) due to very high demand. Negotiating lower supplier order cost yields biggest savings.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8321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178808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1970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</a:rPr>
              <a:t>Recommended 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4480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Implement a continuous review (s, Q) policy — order EOQ units whenever inventory falls to the reorder point.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7315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ED6F1"/>
                </a:solidFill>
              </a:rPr>
              <a:t>FMCG Inventory Optimization · EOQ + MILP · Python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D6F1"/>
                </a:solidFill>
              </a:rPr>
              <a:t>Built with: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Python  ·  pandas  ·  NumPy  ·  SciPy  ·  Matplotlib  ·  ReportLab  ·  Streamlit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7280" y="3291840"/>
            <a:ext cx="1234440" cy="384048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2918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EOQ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3291840"/>
            <a:ext cx="1234440" cy="384048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32918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MILP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3291840"/>
            <a:ext cx="1234440" cy="384048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32918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Inventory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49240" y="3291840"/>
            <a:ext cx="1234440" cy="384048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32918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Supply Chain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3291840"/>
            <a:ext cx="1234440" cy="384048"/>
          </a:xfrm>
          <a:prstGeom prst="rect">
            <a:avLst/>
          </a:prstGeom>
          <a:solidFill>
            <a:srgbClr val="163D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2918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</a:rPr>
              <a:t>Operations Research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Cost Optimization - FMCG Retail Chain</dc:title>
  <dc:subject>PptxGenJS Presentation</dc:subject>
  <dc:creator>FMCG Inventory Optimization Project</dc:creator>
  <cp:lastModifiedBy>FMCG Inventory Optimization Project</cp:lastModifiedBy>
  <cp:revision>1</cp:revision>
  <dcterms:created xsi:type="dcterms:W3CDTF">2026-02-24T09:57:29Z</dcterms:created>
  <dcterms:modified xsi:type="dcterms:W3CDTF">2026-02-24T09:57:29Z</dcterms:modified>
</cp:coreProperties>
</file>